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941832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746504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2551176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3355848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416052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3716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941832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46504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551176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3355848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416052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3716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941832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746504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2551176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3355848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416052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3716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941832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1746504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2551176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3355848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416052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13716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941832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1746504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2551176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3355848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416052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13716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8120" y="941832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1746504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18120" y="2551176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3355848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18120" y="416052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13716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941832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1746504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2551176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3355848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416052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58200" y="13716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58200" y="941832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58200" y="1746504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58200" y="2551176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58200" y="3355848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58200" y="416052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78240" y="13716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78240" y="941832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78240" y="1746504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0" y="2551176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3355848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0" y="4160520"/>
            <a:ext cx="64008" cy="64008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84048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384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F"/>
                </a:solidFill>
              </a:rPr>
              <a:t>Stage Licence 3 — BIC Bordeaux Imaging Center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11480" y="960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Colocalisation</a:t>
            </a:r>
            <a:endParaRPr lang="en-US" sz="3800" dirty="0"/>
          </a:p>
        </p:txBody>
      </p:sp>
      <p:sp>
        <p:nvSpPr>
          <p:cNvPr id="60" name="Text 58"/>
          <p:cNvSpPr/>
          <p:nvPr/>
        </p:nvSpPr>
        <p:spPr>
          <a:xfrm>
            <a:off x="411480" y="17190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par Triangulation de Delaunay</a:t>
            </a:r>
            <a:endParaRPr lang="en-US" sz="2700" dirty="0"/>
          </a:p>
        </p:txBody>
      </p:sp>
      <p:sp>
        <p:nvSpPr>
          <p:cNvPr id="61" name="Text 59"/>
          <p:cNvSpPr/>
          <p:nvPr/>
        </p:nvSpPr>
        <p:spPr>
          <a:xfrm>
            <a:off x="411480" y="2487168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Guide d'utilisation &amp; présentation des résultats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Réticulum endoplasmique — Calnexine (W1) et CFTR (W2)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11480" y="356616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00E676">
              <a:alpha val="22000"/>
            </a:srgbClr>
          </a:solidFill>
          <a:ln w="12700">
            <a:solidFill>
              <a:srgbClr val="00E676">
                <a:alpha val="7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35661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</a:rPr>
              <a:t>Données STORM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587752" y="356616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0891B2">
              <a:alpha val="22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87752" y="35661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</a:rPr>
              <a:t>Python + Scipy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764024" y="356616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D600">
              <a:alpha val="22000"/>
            </a:srgbClr>
          </a:solidFill>
          <a:ln w="12700">
            <a:solidFill>
              <a:srgbClr val="FFD600">
                <a:alpha val="7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64024" y="35661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</a:rPr>
              <a:t>TIF 300 DPI + HTML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940296" y="356616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40296" y="35661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</a:rPr>
              <a:t>Terminologie : localisations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Maître de stage : Mme Anne Cantereau  |  BIC Bordeaux  |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</a:rPr>
              <a:t>Contexte biologique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</a:rPr>
              <a:t>Pourquoi étudier la colocalisation dans le réticulum endoplasmique 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788920" cy="3547872"/>
          </a:xfrm>
          <a:prstGeom prst="rect">
            <a:avLst/>
          </a:prstGeom>
          <a:solidFill>
            <a:srgbClr val="1A2240"/>
          </a:solidFill>
          <a:ln w="12700">
            <a:solidFill>
              <a:srgbClr val="0891B2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1673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</a:rPr>
              <a:t>🔬  Microscopie STORM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542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Technique de super-résolution permettant de localiser des molécules fluorescentes individuelles avec une précision de ~20 nm — bien en dessous de la limite de diffraction classique (~200 nm).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70432"/>
            <a:ext cx="2788920" cy="3547872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70432"/>
            <a:ext cx="278892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31673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</a:rPr>
              <a:t>🧬  Réticulum endoplasmique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28416" y="1828800"/>
            <a:ext cx="2542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Réseau membranaire interconnecté formant des mailles. La structure en réseau est un critère clé : deux protéines qui colocalisent doivent former des mailles communes.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788920" cy="3547872"/>
          </a:xfrm>
          <a:prstGeom prst="rect">
            <a:avLst/>
          </a:prstGeom>
          <a:solidFill>
            <a:srgbClr val="1A2240"/>
          </a:solidFill>
          <a:ln w="12700">
            <a:solidFill>
              <a:srgbClr val="FFD600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70432"/>
            <a:ext cx="278892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31673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</a:rPr>
              <a:t>🔗  La colocalisation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72784" y="1828800"/>
            <a:ext cx="2542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Deux protéines colocalisent si elles occupent les mêmes zones spatiales. Ici : Calnexine (W1) et CFTR (W2) — deux protéines du réticulum dont l'interaction potentielle est étudiée.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</a:rPr>
              <a:t>Données d'entrée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8631936" cy="347472"/>
          </a:xfrm>
          <a:prstGeom prst="roundRect">
            <a:avLst>
              <a:gd name="adj" fmla="val 13158"/>
            </a:avLst>
          </a:prstGeom>
          <a:solidFill>
            <a:srgbClr val="0A1F0A"/>
          </a:solidFill>
          <a:ln w="12700">
            <a:solidFill>
              <a:srgbClr val="00E676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04672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676"/>
                </a:solidFill>
              </a:rPr>
              <a:t>📌  Terminologie : dans ce programme, chaque point = une localisation (abrégé loc.), pas une molécule.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4069080" cy="3547872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406908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716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</a:rPr>
              <a:t>📄  Fichiers CSV (utilisés ici)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</a:rPr>
              <a:t>W1 (Calnexine)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901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5 780 loc.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212848"/>
            <a:ext cx="3749040" cy="18288"/>
          </a:xfrm>
          <a:prstGeom prst="rect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323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</a:rPr>
              <a:t>W2 (CFTR)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4323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53 909 loc.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743200"/>
            <a:ext cx="3749040" cy="18288"/>
          </a:xfrm>
          <a:prstGeom prst="rect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626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</a:rPr>
              <a:t>Colonnes clés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962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x [nm]  /  y [nm]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273552"/>
            <a:ext cx="3749040" cy="18288"/>
          </a:xfrm>
          <a:prstGeom prst="rect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493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</a:rPr>
              <a:t>Source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493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Acquisition STORM demixée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803904"/>
            <a:ext cx="3749040" cy="18288"/>
          </a:xfrm>
          <a:prstGeom prst="rect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04164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</a:rPr>
              <a:t>Chaque ligne = une localisation unique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</a:rPr>
              <a:t>coordonnées en nanomètres dans l'espace réel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4224528" cy="3547872"/>
          </a:xfrm>
          <a:prstGeom prst="rect">
            <a:avLst/>
          </a:prstGeom>
          <a:solidFill>
            <a:srgbClr val="1A2240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261872"/>
            <a:ext cx="42245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137160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</a:rPr>
              <a:t>🖼️  Image TIF (alternative)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91456" y="1883664"/>
            <a:ext cx="395020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</a:rPr>
              <a:t>Canal vert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→ localisations W1
</a:t>
            </a:r>
            <a:pPr indent="0" marL="0">
              <a:buNone/>
            </a:pPr>
            <a:r>
              <a:rPr lang="en-US" sz="1050" b="1" dirty="0">
                <a:solidFill>
                  <a:srgbClr val="FF1744"/>
                </a:solidFill>
              </a:rPr>
              <a:t>Canal rouge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→ localisations W2
</a:t>
            </a:r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Le programme extrait automatiquement les pixels actifs de chaque canal et les traite comme des coordonnées CSV. Le résultat final est identique.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91456" y="4041648"/>
            <a:ext cx="3950208" cy="566928"/>
          </a:xfrm>
          <a:prstGeom prst="roundRect">
            <a:avLst>
              <a:gd name="adj" fmla="val 8065"/>
            </a:avLst>
          </a:prstGeom>
          <a:solidFill>
            <a:srgbClr val="0D2235"/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4041648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Les deux modes donnent exactement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le même résultat et le même score.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</a:rPr>
              <a:t>Pipeline de l'analyse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41248"/>
            <a:ext cx="1627632" cy="4005072"/>
          </a:xfrm>
          <a:prstGeom prst="rect">
            <a:avLst/>
          </a:prstGeom>
          <a:solidFill>
            <a:srgbClr val="1A2240"/>
          </a:solidFill>
          <a:ln w="12700">
            <a:solidFill>
              <a:srgbClr val="0891B2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41248"/>
            <a:ext cx="162763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987552"/>
            <a:ext cx="457200" cy="457200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4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4FF"/>
                </a:solidFill>
              </a:rPr>
              <a:t>Chargement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2066544"/>
            <a:ext cx="14447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Lecture CSV (x,y en nm) ou TIF RGB. Séparation automatique des deux canaux.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2834640"/>
            <a:ext cx="146304" cy="0"/>
          </a:xfrm>
          <a:prstGeom prst="line">
            <a:avLst/>
          </a:prstGeom>
          <a:noFill/>
          <a:ln w="19050">
            <a:solidFill>
              <a:srgbClr val="5C6B82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1975104" y="841248"/>
            <a:ext cx="1627632" cy="4005072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75104" y="841248"/>
            <a:ext cx="1627632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987552"/>
            <a:ext cx="457200" cy="457200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4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48256" y="15361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4FF"/>
                </a:solidFill>
              </a:rPr>
              <a:t>Delaunay intra-canal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66544" y="2066544"/>
            <a:ext cx="14447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Triangulation W1 puis W2 séparément. Filtrage des arêtes &gt; seuil nm.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02736" y="2834640"/>
            <a:ext cx="146304" cy="0"/>
          </a:xfrm>
          <a:prstGeom prst="line">
            <a:avLst/>
          </a:prstGeom>
          <a:noFill/>
          <a:ln w="19050">
            <a:solidFill>
              <a:srgbClr val="5C6B82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3749040" y="841248"/>
            <a:ext cx="1627632" cy="4005072"/>
          </a:xfrm>
          <a:prstGeom prst="rect">
            <a:avLst/>
          </a:prstGeom>
          <a:solidFill>
            <a:srgbClr val="1A2240"/>
          </a:solidFill>
          <a:ln w="12700">
            <a:solidFill>
              <a:srgbClr val="FFD600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841248"/>
            <a:ext cx="1627632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4256" y="987552"/>
            <a:ext cx="457200" cy="457200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34256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4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22192" y="15361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4FF"/>
                </a:solidFill>
              </a:rPr>
              <a:t>Liaison inter-canal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0" y="2066544"/>
            <a:ext cx="14447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Pour chaque loc. W1 affichée, voisin W2 affiché le plus proche dans le rayon → trait jaune tracé.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76672" y="2834640"/>
            <a:ext cx="146304" cy="0"/>
          </a:xfrm>
          <a:prstGeom prst="line">
            <a:avLst/>
          </a:prstGeom>
          <a:noFill/>
          <a:ln w="19050">
            <a:solidFill>
              <a:srgbClr val="5C6B82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5522976" y="841248"/>
            <a:ext cx="1627632" cy="4005072"/>
          </a:xfrm>
          <a:prstGeom prst="rect">
            <a:avLst/>
          </a:prstGeom>
          <a:solidFill>
            <a:srgbClr val="1A2240"/>
          </a:solidFill>
          <a:ln w="12700">
            <a:solidFill>
              <a:srgbClr val="FF1744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22976" y="841248"/>
            <a:ext cx="1627632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08192" y="987552"/>
            <a:ext cx="457200" cy="457200"/>
          </a:xfrm>
          <a:prstGeom prst="ellipse">
            <a:avLst/>
          </a:prstGeom>
          <a:solidFill>
            <a:srgbClr val="FF1744">
              <a:alpha val="80000"/>
            </a:srgbClr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4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596128" y="15361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4FF"/>
                </a:solidFill>
              </a:rPr>
              <a:t>Score &amp; distance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14416" y="2066544"/>
            <a:ext cx="14447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% de loc. colocalisées + distance moyenne = somme longueurs traits jaunes / nombre traits jaunes.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50608" y="2834640"/>
            <a:ext cx="146304" cy="0"/>
          </a:xfrm>
          <a:prstGeom prst="line">
            <a:avLst/>
          </a:prstGeom>
          <a:noFill/>
          <a:ln w="19050">
            <a:solidFill>
              <a:srgbClr val="5C6B82"/>
            </a:solidFill>
            <a:prstDash val="sysDash"/>
          </a:ln>
        </p:spPr>
      </p:sp>
      <p:sp>
        <p:nvSpPr>
          <p:cNvPr id="32" name="Shape 30"/>
          <p:cNvSpPr/>
          <p:nvPr/>
        </p:nvSpPr>
        <p:spPr>
          <a:xfrm>
            <a:off x="7296912" y="841248"/>
            <a:ext cx="1627632" cy="4005072"/>
          </a:xfrm>
          <a:prstGeom prst="rect">
            <a:avLst/>
          </a:prstGeom>
          <a:solidFill>
            <a:srgbClr val="1A2240"/>
          </a:solidFill>
          <a:ln w="12700">
            <a:solidFill>
              <a:srgbClr val="06B6D4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96912" y="841248"/>
            <a:ext cx="162763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82128" y="987552"/>
            <a:ext cx="457200" cy="457200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2128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4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70064" y="15361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4FF"/>
                </a:solidFill>
              </a:rPr>
              <a:t>Export fichiers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88352" y="2066544"/>
            <a:ext cx="14447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TIF référence + TIF Delaunay + HTML graphe. Sauvegardés dans le dossier des CSV chargés.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</a:rPr>
              <a:t>Pourquoi la triangulation de Delaunay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96112"/>
            <a:ext cx="5166360" cy="896112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96112"/>
            <a:ext cx="64008" cy="89611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914400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Structure en maille du 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" y="1207008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Le réticulum endoplasmique forme naturellement des réseaux de triangles et polygones. Delaunay génère exactement ce type de maillage à partir de nuages de points.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1920240"/>
            <a:ext cx="5166360" cy="896112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920240"/>
            <a:ext cx="64008" cy="89611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38528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Propriété géométrique optimale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2231136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Delaunay maximise les angles minimaux des triangles : on évite les triangles « plats » qui relieraient des points éloignés de façon artificielle.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944368"/>
            <a:ext cx="5166360" cy="896112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944368"/>
            <a:ext cx="64008" cy="89611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962656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Filtrage par arête max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325526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On ne conserve que les arêtes ≤ N nm (500 nm par défaut). Cela supprime les grandes arêtes biologiquement non pertinentes et ne garde que la structure locale.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968496"/>
            <a:ext cx="5166360" cy="896112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968496"/>
            <a:ext cx="64008" cy="89611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98678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Indépendant de la grille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4279392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Contrairement à une image bitmap, la triangulation opère directement sur les coordonnées nm réelles — pas de biais lié à la pixellisation.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50992" y="804672"/>
            <a:ext cx="3273552" cy="4096512"/>
          </a:xfrm>
          <a:prstGeom prst="rect">
            <a:avLst/>
          </a:prstGeom>
          <a:solidFill>
            <a:srgbClr val="0D1525"/>
          </a:solidFill>
          <a:ln w="12700">
            <a:solidFill>
              <a:srgbClr val="0891B2">
                <a:alpha val="4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42432" y="89611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Schéma illustratif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99632" y="1600200"/>
            <a:ext cx="676656" cy="338328"/>
          </a:xfrm>
          <a:prstGeom prst="line">
            <a:avLst/>
          </a:prstGeom>
          <a:noFill/>
          <a:ln w="13970">
            <a:solidFill>
              <a:srgbClr val="00E676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1600200"/>
            <a:ext cx="246888" cy="1097280"/>
          </a:xfrm>
          <a:prstGeom prst="line">
            <a:avLst/>
          </a:prstGeom>
          <a:noFill/>
          <a:ln w="13970">
            <a:solidFill>
              <a:srgbClr val="00E676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76288" y="1938528"/>
            <a:ext cx="-429768" cy="758952"/>
          </a:xfrm>
          <a:prstGeom prst="line">
            <a:avLst/>
          </a:prstGeom>
          <a:noFill/>
          <a:ln w="13970">
            <a:solidFill>
              <a:srgbClr val="00E676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76288" y="1938528"/>
            <a:ext cx="484632" cy="-182880"/>
          </a:xfrm>
          <a:prstGeom prst="line">
            <a:avLst/>
          </a:prstGeom>
          <a:noFill/>
          <a:ln w="13970">
            <a:solidFill>
              <a:srgbClr val="00E676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2697480"/>
            <a:ext cx="1252728" cy="-210312"/>
          </a:xfrm>
          <a:prstGeom prst="line">
            <a:avLst/>
          </a:prstGeom>
          <a:noFill/>
          <a:ln w="13970">
            <a:solidFill>
              <a:srgbClr val="00E676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1755648"/>
            <a:ext cx="338328" cy="731520"/>
          </a:xfrm>
          <a:prstGeom prst="line">
            <a:avLst/>
          </a:prstGeom>
          <a:noFill/>
          <a:ln w="13970">
            <a:solidFill>
              <a:srgbClr val="00E676">
                <a:alpha val="6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2697480"/>
            <a:ext cx="548640" cy="484632"/>
          </a:xfrm>
          <a:prstGeom prst="line">
            <a:avLst/>
          </a:prstGeom>
          <a:noFill/>
          <a:ln w="13970">
            <a:solidFill>
              <a:srgbClr val="00E676">
                <a:alpha val="6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99248" y="2487168"/>
            <a:ext cx="-704088" cy="694944"/>
          </a:xfrm>
          <a:prstGeom prst="line">
            <a:avLst/>
          </a:prstGeom>
          <a:noFill/>
          <a:ln w="13970">
            <a:solidFill>
              <a:srgbClr val="00E676">
                <a:alpha val="6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52704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03136" y="1865376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3368" y="262432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87768" y="1682496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6096" y="2414016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22008" y="3108960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1993392"/>
            <a:ext cx="118872" cy="118872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2359152"/>
            <a:ext cx="118872" cy="118872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56832" y="2788920"/>
            <a:ext cx="118872" cy="118872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60920" y="2084832"/>
            <a:ext cx="118872" cy="118872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76288" y="1938528"/>
            <a:ext cx="-365760" cy="118872"/>
          </a:xfrm>
          <a:prstGeom prst="line">
            <a:avLst/>
          </a:prstGeom>
          <a:noFill/>
          <a:ln w="19050">
            <a:solidFill>
              <a:srgbClr val="FFD6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2697480"/>
            <a:ext cx="274320" cy="155448"/>
          </a:xfrm>
          <a:prstGeom prst="line">
            <a:avLst/>
          </a:prstGeom>
          <a:noFill/>
          <a:ln w="19050">
            <a:solidFill>
              <a:srgbClr val="FFD6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79008" y="4096512"/>
            <a:ext cx="128016" cy="128016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61888" y="40782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Réseau W1 (maille)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059168" y="4096512"/>
            <a:ext cx="128016" cy="128016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42048" y="40782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1744"/>
                </a:solidFill>
              </a:rPr>
              <a:t>Loc. W2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779008" y="4462272"/>
            <a:ext cx="128016" cy="128016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1888" y="44439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600"/>
                </a:solidFill>
              </a:rPr>
              <a:t>Liaison coloc.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4FF"/>
                </a:solidFill>
              </a:rPr>
              <a:t>Score &amp; Distance moyenne de colocalisation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8631936" cy="1572768"/>
          </a:xfrm>
          <a:prstGeom prst="rect">
            <a:avLst/>
          </a:prstGeom>
          <a:solidFill>
            <a:srgbClr val="1A2240"/>
          </a:solidFill>
          <a:ln w="12700">
            <a:solidFill>
              <a:srgbClr val="FFD600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8778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600"/>
                </a:solidFill>
              </a:rPr>
              <a:t>Formule du score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02336" y="12252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Score W1  =  </a:t>
            </a:r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</a:rPr>
              <a:t>loc. W1 ayant ≥1 voisin W2 dans le rayon</a:t>
            </a:r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</a:rPr>
              <a:t>  /  W1 total  →  99,9 %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2336" y="15179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Score W2  =  </a:t>
            </a:r>
            <a:pPr indent="0" marL="0">
              <a:buNone/>
            </a:pPr>
            <a:r>
              <a:rPr lang="en-US" sz="1050" b="1" dirty="0">
                <a:solidFill>
                  <a:srgbClr val="FF1744"/>
                </a:solidFill>
              </a:rPr>
              <a:t>loc. W2 ayant ≥1 voisin W1 dans le rayon</a:t>
            </a:r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</a:rPr>
              <a:t>  /  W2 total  →  92,2 %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" y="18288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Score global  =  √ (Score W1 × Score W2)</a:t>
            </a:r>
            <a:pPr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  [moyenne géométrique]  →  96,0 %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2487168"/>
            <a:ext cx="8631936" cy="1078992"/>
          </a:xfrm>
          <a:prstGeom prst="rect">
            <a:avLst/>
          </a:prstGeom>
          <a:solidFill>
            <a:srgbClr val="1A2240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Formule de la distance moyenne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2336" y="2907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Distance moyenne  =  </a:t>
            </a:r>
            <a:pPr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Σ longueur de chaque trait jaune</a:t>
            </a:r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  /  </a:t>
            </a:r>
            <a:pPr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nombre de traits jaunes</a:t>
            </a:r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</a:rPr>
              <a:t>  →  39,2 nm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32186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</a:rPr>
              <a:t>Longueur d'un trait = √((x₂−x₁)² + (y₂−y₁)²)  |  Calculée sur les localisations affichées (sous-ensemble)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3694176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A2E1A"/>
          </a:solidFill>
          <a:ln w="12700">
            <a:solidFill>
              <a:srgbClr val="00E676">
                <a:alpha val="72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" y="37673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676"/>
                </a:solidFill>
              </a:rPr>
              <a:t>96,0 %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56032" y="43525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39,2 nm distance moy.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16352" y="3694176"/>
            <a:ext cx="6071616" cy="1143000"/>
          </a:xfrm>
          <a:prstGeom prst="rect">
            <a:avLst/>
          </a:prstGeom>
          <a:solidFill>
            <a:srgbClr val="1C1408"/>
          </a:solidFill>
          <a:ln w="12700">
            <a:solidFill>
              <a:srgbClr val="F59E0B">
                <a:alpha val="62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16352" y="3694176"/>
            <a:ext cx="6071616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3785616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Limite conditionnelle automatique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44368" y="4114800"/>
            <a:ext cx="5806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Le programme détecte automatiquement si un canal est &gt;3× plus dense que l'autre.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Si oui → affiche le canal concerné, le ratio exact et les valeurs réelles. Si non → aucun avertissement.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</a:rPr>
              <a:t>Résultats visuels — 3 fichiers générés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743200" cy="4005072"/>
          </a:xfrm>
          <a:prstGeom prst="rect">
            <a:avLst/>
          </a:prstGeom>
          <a:solidFill>
            <a:srgbClr val="0D1525"/>
          </a:solidFill>
          <a:ln w="12700">
            <a:solidFill>
              <a:srgbClr val="0891B2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32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</a:rPr>
              <a:t>TIF 1 — Référence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" y="1335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Distribution brute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sans aucune liaison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02996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248716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89864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230428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267004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99032" y="2221992"/>
            <a:ext cx="109728" cy="109728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6232" y="2633472"/>
            <a:ext cx="109728" cy="109728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3044952"/>
            <a:ext cx="109728" cy="109728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1992" y="2404872"/>
            <a:ext cx="109728" cy="109728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187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BB"/>
                </a:solidFill>
              </a:rPr>
              <a:t>Vert = W1  •  Rouge = W2  •  pas de trait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Ouvrir dans ImageJ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18688" y="822960"/>
            <a:ext cx="2743200" cy="4005072"/>
          </a:xfrm>
          <a:prstGeom prst="rect">
            <a:avLst/>
          </a:prstGeom>
          <a:solidFill>
            <a:srgbClr val="0D1525"/>
          </a:solidFill>
          <a:ln w="12700">
            <a:solidFill>
              <a:srgbClr val="FFD600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822960"/>
            <a:ext cx="274320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932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</a:rPr>
              <a:t>TIF 2 — Colocalisation Delaunay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0128" y="1335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Réseaux + liaisons jaunes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+ encadré score &amp; distance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2103120"/>
            <a:ext cx="548640" cy="365760"/>
          </a:xfrm>
          <a:prstGeom prst="line">
            <a:avLst/>
          </a:prstGeom>
          <a:noFill/>
          <a:ln w="10160">
            <a:solidFill>
              <a:srgbClr val="00C853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2468880"/>
            <a:ext cx="-411480" cy="457200"/>
          </a:xfrm>
          <a:prstGeom prst="line">
            <a:avLst/>
          </a:prstGeom>
          <a:noFill/>
          <a:ln w="10160">
            <a:solidFill>
              <a:srgbClr val="00C853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2103120"/>
            <a:ext cx="137160" cy="822960"/>
          </a:xfrm>
          <a:prstGeom prst="line">
            <a:avLst/>
          </a:prstGeom>
          <a:noFill/>
          <a:ln w="10160">
            <a:solidFill>
              <a:srgbClr val="00C853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2468880"/>
            <a:ext cx="457200" cy="-182880"/>
          </a:xfrm>
          <a:prstGeom prst="line">
            <a:avLst/>
          </a:prstGeom>
          <a:noFill/>
          <a:ln w="10160">
            <a:solidFill>
              <a:srgbClr val="00C853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286000"/>
            <a:ext cx="365760" cy="457200"/>
          </a:xfrm>
          <a:prstGeom prst="line">
            <a:avLst/>
          </a:prstGeom>
          <a:noFill/>
          <a:ln w="10160">
            <a:solidFill>
              <a:srgbClr val="00C853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2926080"/>
            <a:ext cx="1234440" cy="-182880"/>
          </a:xfrm>
          <a:prstGeom prst="line">
            <a:avLst/>
          </a:prstGeom>
          <a:noFill/>
          <a:ln w="10160">
            <a:solidFill>
              <a:srgbClr val="00C853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75888" y="202996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24528" y="239572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3048" y="285292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221284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47488" y="2670048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96512" y="2313432"/>
            <a:ext cx="109728" cy="109728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07992" y="2724912"/>
            <a:ext cx="109728" cy="109728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2312" y="2450592"/>
            <a:ext cx="109728" cy="109728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2468880"/>
            <a:ext cx="-137160" cy="-91440"/>
          </a:xfrm>
          <a:prstGeom prst="line">
            <a:avLst/>
          </a:prstGeom>
          <a:noFill/>
          <a:ln w="19050">
            <a:solidFill>
              <a:srgbClr val="FFD6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86200" y="2926080"/>
            <a:ext cx="274320" cy="-137160"/>
          </a:xfrm>
          <a:prstGeom prst="line">
            <a:avLst/>
          </a:prstGeom>
          <a:noFill/>
          <a:ln w="19050">
            <a:solidFill>
              <a:srgbClr val="FFD6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4187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BB"/>
                </a:solidFill>
              </a:rPr>
              <a:t>Vert=W1  •  Rouge=W2  •  Jaune=coloc.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10128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Ouvrir dans ImageJ  —  zoomable TIF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81344" y="822960"/>
            <a:ext cx="2743200" cy="4005072"/>
          </a:xfrm>
          <a:prstGeom prst="rect">
            <a:avLst/>
          </a:prstGeom>
          <a:solidFill>
            <a:srgbClr val="0D1525"/>
          </a:solidFill>
          <a:ln w="12700">
            <a:solidFill>
              <a:srgbClr val="06B6D4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81344" y="822960"/>
            <a:ext cx="27432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932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</a:rPr>
              <a:t>HTML — Graphe interactif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272784" y="1335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Score W1/W2/global en fonction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du rayon — zoomable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3621024"/>
            <a:ext cx="274320" cy="-217627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6520" y="4005072"/>
            <a:ext cx="274320" cy="-89611"/>
          </a:xfrm>
          <a:prstGeom prst="line">
            <a:avLst/>
          </a:prstGeom>
          <a:noFill/>
          <a:ln w="15240">
            <a:solidFill>
              <a:srgbClr val="FF17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0840" y="3403397"/>
            <a:ext cx="274320" cy="-166421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20840" y="3915461"/>
            <a:ext cx="274320" cy="-128016"/>
          </a:xfrm>
          <a:prstGeom prst="line">
            <a:avLst/>
          </a:prstGeom>
          <a:noFill/>
          <a:ln w="15240">
            <a:solidFill>
              <a:srgbClr val="FF17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95160" y="3236976"/>
            <a:ext cx="274320" cy="-89611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95160" y="3787445"/>
            <a:ext cx="274320" cy="-128016"/>
          </a:xfrm>
          <a:prstGeom prst="line">
            <a:avLst/>
          </a:prstGeom>
          <a:noFill/>
          <a:ln w="15240">
            <a:solidFill>
              <a:srgbClr val="FF17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69480" y="3147365"/>
            <a:ext cx="274320" cy="-76810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69480" y="3659429"/>
            <a:ext cx="274320" cy="-166421"/>
          </a:xfrm>
          <a:prstGeom prst="line">
            <a:avLst/>
          </a:prstGeom>
          <a:noFill/>
          <a:ln w="15240">
            <a:solidFill>
              <a:srgbClr val="FF17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43800" y="3070555"/>
            <a:ext cx="274320" cy="-51206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43800" y="3493008"/>
            <a:ext cx="274320" cy="-166421"/>
          </a:xfrm>
          <a:prstGeom prst="line">
            <a:avLst/>
          </a:prstGeom>
          <a:noFill/>
          <a:ln w="15240">
            <a:solidFill>
              <a:srgbClr val="FF17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18120" y="3019349"/>
            <a:ext cx="274320" cy="-51206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18120" y="3326587"/>
            <a:ext cx="274320" cy="-128016"/>
          </a:xfrm>
          <a:prstGeom prst="line">
            <a:avLst/>
          </a:prstGeom>
          <a:noFill/>
          <a:ln w="15240">
            <a:solidFill>
              <a:srgbClr val="FF17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92440" y="2968142"/>
            <a:ext cx="274320" cy="-51206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92440" y="3198571"/>
            <a:ext cx="274320" cy="-128016"/>
          </a:xfrm>
          <a:prstGeom prst="line">
            <a:avLst/>
          </a:prstGeom>
          <a:noFill/>
          <a:ln w="15240">
            <a:solidFill>
              <a:srgbClr val="FF17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66760" y="2916936"/>
            <a:ext cx="182880" cy="-25603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66760" y="3070555"/>
            <a:ext cx="182880" cy="-76810"/>
          </a:xfrm>
          <a:prstGeom prst="line">
            <a:avLst/>
          </a:prstGeom>
          <a:noFill/>
          <a:ln w="15240">
            <a:solidFill>
              <a:srgbClr val="FF17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49640" y="2891333"/>
            <a:ext cx="182880" cy="-25603"/>
          </a:xfrm>
          <a:prstGeom prst="line">
            <a:avLst/>
          </a:prstGeom>
          <a:noFill/>
          <a:ln w="15240">
            <a:solidFill>
              <a:srgbClr val="00E67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49640" y="2993746"/>
            <a:ext cx="182880" cy="-51206"/>
          </a:xfrm>
          <a:prstGeom prst="line">
            <a:avLst/>
          </a:prstGeom>
          <a:noFill/>
          <a:ln w="15240">
            <a:solidFill>
              <a:srgbClr val="FF17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24928" y="1810512"/>
            <a:ext cx="0" cy="2304288"/>
          </a:xfrm>
          <a:prstGeom prst="line">
            <a:avLst/>
          </a:prstGeom>
          <a:noFill/>
          <a:ln w="12700">
            <a:solidFill>
              <a:srgbClr val="4FC3F7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7443216" y="18288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C3F7"/>
                </a:solidFill>
              </a:rPr>
              <a:t>Rayon actuel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272784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Ouvrir dans le navigateur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56032" y="4846320"/>
            <a:ext cx="8631936" cy="228600"/>
          </a:xfrm>
          <a:prstGeom prst="roundRect">
            <a:avLst>
              <a:gd name="adj" fmla="val 16000"/>
            </a:avLst>
          </a:prstGeom>
          <a:solidFill>
            <a:srgbClr val="0A1F2E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846320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</a:rPr>
              <a:t>📁  Les 3 fichiers sont sauvegardés dans le même dossier que les CSV (ou TIF) chargés — pas dans le dossier du script.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</a:rPr>
              <a:t>Paramètres clés &amp; leur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32688"/>
            <a:ext cx="8631936" cy="950976"/>
          </a:xfrm>
          <a:prstGeom prst="rect">
            <a:avLst/>
          </a:prstGeom>
          <a:solidFill>
            <a:srgbClr val="1A2240"/>
          </a:solidFill>
          <a:ln w="12700">
            <a:solidFill>
              <a:srgbClr val="FFD600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32688"/>
            <a:ext cx="64008" cy="95097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9966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</a:rPr>
              <a:t>Rayon de colocalisation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1298448" cy="274320"/>
          </a:xfrm>
          <a:prstGeom prst="roundRect">
            <a:avLst>
              <a:gd name="adj" fmla="val 13333"/>
            </a:avLst>
          </a:prstGeom>
          <a:solidFill>
            <a:srgbClr val="FFD600">
              <a:alpha val="78000"/>
            </a:srgbClr>
          </a:solidFill>
          <a:ln w="12700">
            <a:solidFill>
              <a:srgbClr val="FFD600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058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250 nm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73168" y="1005840"/>
            <a:ext cx="4005072" cy="274320"/>
          </a:xfrm>
          <a:prstGeom prst="roundRect">
            <a:avLst>
              <a:gd name="adj" fmla="val 13333"/>
            </a:avLst>
          </a:prstGeom>
          <a:solidFill>
            <a:srgbClr val="1A2240"/>
          </a:solidFill>
          <a:ln w="12700">
            <a:solidFill>
              <a:srgbClr val="5C6B82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Affecte : Score + liaisons jaunes + distance moy.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" y="1353312"/>
            <a:ext cx="8339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Distance maximale entre une loc. W1 et une loc. W2 pour tracer une liaison jaune. Plus grand → score monte mais moins sélectif. Plus petit → plus strict.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956816"/>
            <a:ext cx="8631936" cy="950976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956816"/>
            <a:ext cx="64008" cy="9509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0208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</a:rPr>
              <a:t>Arête Delaunay max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37560" y="2029968"/>
            <a:ext cx="1298448" cy="274320"/>
          </a:xfrm>
          <a:prstGeom prst="roundRect">
            <a:avLst>
              <a:gd name="adj" fmla="val 13333"/>
            </a:avLst>
          </a:prstGeom>
          <a:solidFill>
            <a:srgbClr val="00E676">
              <a:alpha val="78000"/>
            </a:srgbClr>
          </a:solidFill>
          <a:ln w="12700">
            <a:solidFill>
              <a:srgbClr val="00E676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0299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500 nm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73168" y="2029968"/>
            <a:ext cx="4005072" cy="274320"/>
          </a:xfrm>
          <a:prstGeom prst="roundRect">
            <a:avLst>
              <a:gd name="adj" fmla="val 13333"/>
            </a:avLst>
          </a:prstGeom>
          <a:solidFill>
            <a:srgbClr val="1A2240"/>
          </a:solidFill>
          <a:ln w="12700">
            <a:solidFill>
              <a:srgbClr val="5C6B82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0299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Affecte : Visuel uniquement (pas le score)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2336" y="2377440"/>
            <a:ext cx="8339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Longueur maximale des arêtes conservées dans les réseaux W1 et W2. N'affecte NI le score, NI les liaisons jaunes, NI la distance moyenne. Purement visuel.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980944"/>
            <a:ext cx="8631936" cy="950976"/>
          </a:xfrm>
          <a:prstGeom prst="rect">
            <a:avLst/>
          </a:prstGeom>
          <a:solidFill>
            <a:srgbClr val="1A2240"/>
          </a:solidFill>
          <a:ln w="12700">
            <a:solidFill>
              <a:srgbClr val="0891B2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80944"/>
            <a:ext cx="64008" cy="9509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0449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</a:rPr>
              <a:t>Résolution export TIF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3054096"/>
            <a:ext cx="1298448" cy="274320"/>
          </a:xfrm>
          <a:prstGeom prst="roundRect">
            <a:avLst>
              <a:gd name="adj" fmla="val 13333"/>
            </a:avLst>
          </a:prstGeom>
          <a:solidFill>
            <a:srgbClr val="0891B2">
              <a:alpha val="78000"/>
            </a:srgbClr>
          </a:solidFill>
          <a:ln w="12700">
            <a:solidFill>
              <a:srgbClr val="0891B2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05409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300 DPI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3054096"/>
            <a:ext cx="4005072" cy="274320"/>
          </a:xfrm>
          <a:prstGeom prst="roundRect">
            <a:avLst>
              <a:gd name="adj" fmla="val 13333"/>
            </a:avLst>
          </a:prstGeom>
          <a:solidFill>
            <a:srgbClr val="1A2240"/>
          </a:solidFill>
          <a:ln w="12700">
            <a:solidFill>
              <a:srgbClr val="5C6B82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0540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Affecte : Qualité image TIF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" y="3401568"/>
            <a:ext cx="8339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Changer dpi=300 en dpi=600 dans le script — une seule modification, aucune autre ligne à toucher. 600 DPI recommandé si zoom fort dans ImageJ.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4005072"/>
            <a:ext cx="8631936" cy="950976"/>
          </a:xfrm>
          <a:prstGeom prst="rect">
            <a:avLst/>
          </a:prstGeom>
          <a:solidFill>
            <a:srgbClr val="1A2240"/>
          </a:solidFill>
          <a:ln w="12700">
            <a:solidFill>
              <a:srgbClr val="06B6D4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4005072"/>
            <a:ext cx="64008" cy="9509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40690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</a:rPr>
              <a:t>Dossier de sortie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37560" y="4078224"/>
            <a:ext cx="1298448" cy="274320"/>
          </a:xfrm>
          <a:prstGeom prst="roundRect">
            <a:avLst>
              <a:gd name="adj" fmla="val 13333"/>
            </a:avLst>
          </a:prstGeom>
          <a:solidFill>
            <a:srgbClr val="06B6D4">
              <a:alpha val="78000"/>
            </a:srgbClr>
          </a:solidFill>
          <a:ln w="12700">
            <a:solidFill>
              <a:srgbClr val="06B6D4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07822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Auto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4078224"/>
            <a:ext cx="4005072" cy="274320"/>
          </a:xfrm>
          <a:prstGeom prst="roundRect">
            <a:avLst>
              <a:gd name="adj" fmla="val 13333"/>
            </a:avLst>
          </a:prstGeom>
          <a:solidFill>
            <a:srgbClr val="1A2240"/>
          </a:solidFill>
          <a:ln w="12700">
            <a:solidFill>
              <a:srgbClr val="5C6B82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407822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Affecte : Emplacement des 3 fichiers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2336" y="4425696"/>
            <a:ext cx="8339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Les fichiers TIF et HTML sont automatiquement sauvegardés dans le même dossier que les CSV (ou TIF) importés. Pas dans le dossier du script Python.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</a:rPr>
              <a:t>Guide d'utilisation — Pas à pas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33088" cy="2148840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33088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961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① Installation (une seule fois)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Ouvrir terminal Windows : Win+R → cmd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572768"/>
            <a:ext cx="3886200" cy="384048"/>
          </a:xfrm>
          <a:prstGeom prst="roundRect">
            <a:avLst>
              <a:gd name="adj" fmla="val 11905"/>
            </a:avLst>
          </a:prstGeom>
          <a:solidFill>
            <a:srgbClr val="050C05"/>
          </a:solidFill>
          <a:ln w="12700">
            <a:solidFill>
              <a:srgbClr val="00E67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72768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matplotlib scipy numpy pillow plotly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9933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BB"/>
                </a:solidFill>
              </a:rPr>
              <a:t>Attendre la fin de l'installation (une seule fois).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2860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⚠  Ne pas taper pip dans la console Python (&gt;&gt;&gt;)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48716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  → Utiliser uniquement le terminal Windows (cmd)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45152" y="804672"/>
            <a:ext cx="4242816" cy="2148840"/>
          </a:xfrm>
          <a:prstGeom prst="rect">
            <a:avLst/>
          </a:prstGeom>
          <a:solidFill>
            <a:srgbClr val="1A2240"/>
          </a:solidFill>
          <a:ln w="12700">
            <a:solidFill>
              <a:srgbClr val="0891B2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804672"/>
            <a:ext cx="424281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89611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② Lancer le programme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128016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Dans le terminal Windows 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73168" y="1572768"/>
            <a:ext cx="4005072" cy="384048"/>
          </a:xfrm>
          <a:prstGeom prst="roundRect">
            <a:avLst>
              <a:gd name="adj" fmla="val 11905"/>
            </a:avLst>
          </a:prstGeom>
          <a:solidFill>
            <a:srgbClr val="050808"/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57276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analyse_colocalisation_STORM.py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73168" y="1993392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→ L'interface graphique s'ouvre.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→ Recommandé : lancer depuis le terminal et non depuis IDLE.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090672"/>
            <a:ext cx="8631936" cy="1828800"/>
          </a:xfrm>
          <a:prstGeom prst="rect">
            <a:avLst/>
          </a:prstGeom>
          <a:solidFill>
            <a:srgbClr val="1A2240"/>
          </a:solidFill>
          <a:ln w="12700">
            <a:solidFill>
              <a:srgbClr val="FFD600">
                <a:alpha val="58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90672"/>
            <a:ext cx="8631936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1821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③ Utilisation de l'interface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3611880"/>
            <a:ext cx="329184" cy="329184"/>
          </a:xfrm>
          <a:prstGeom prst="ellipse">
            <a:avLst/>
          </a:prstGeom>
          <a:solidFill>
            <a:srgbClr val="FFD600">
              <a:alpha val="75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" y="36301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Onglet CSV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" y="395020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Cliquer 'Parcourir' pour charger W1 puis W2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42032" y="3611880"/>
            <a:ext cx="329184" cy="329184"/>
          </a:xfrm>
          <a:prstGeom prst="ellipse">
            <a:avLst/>
          </a:prstGeom>
          <a:solidFill>
            <a:srgbClr val="FFD600">
              <a:alpha val="75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36301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Paramètres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395020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Rayon (250 nm) et Arête max (500 nm) par défaut — modifier si besoin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0016" y="3611880"/>
            <a:ext cx="329184" cy="329184"/>
          </a:xfrm>
          <a:prstGeom prst="ellipse">
            <a:avLst/>
          </a:prstGeom>
          <a:solidFill>
            <a:srgbClr val="FFD600">
              <a:alpha val="75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84064" y="36301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Lancer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84064" y="395020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Cliquer 'LANCER L'ANALYSE' — le log affiche la progression en temps réel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3611880"/>
            <a:ext cx="329184" cy="329184"/>
          </a:xfrm>
          <a:prstGeom prst="ellipse">
            <a:avLst/>
          </a:prstGeom>
          <a:solidFill>
            <a:srgbClr val="FFD600">
              <a:alpha val="75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42048" y="36301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Résultats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42048" y="395020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3 fichiers créés dans le dossier des CSV : TIF 1, TIF 2, HTML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</a:rPr>
              <a:t>Limites &amp; Alternatives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33088" cy="4041648"/>
          </a:xfrm>
          <a:prstGeom prst="rect">
            <a:avLst/>
          </a:prstGeom>
          <a:solidFill>
            <a:srgbClr val="1A2240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3308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961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⚠  Limites actuelles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3858768" cy="54864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81328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Score conditionnel par densité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10512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Le programme détecte automatiquement si un canal est &gt;3× plus dense (ratio affiché). Si équilibré → aucun avertissement.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468880"/>
            <a:ext cx="3858768" cy="54864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560320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Pas de test statistique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889504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Aucune p-value calculée. On ne peut pas affirmer que la colocalisation est non-aléatoire sans test de permutation.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3547872"/>
            <a:ext cx="3858768" cy="54864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63931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Sous-échantillonnage W2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968496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Le réseau Delaunay W2 est calculé sur 15 000 loc. (sur 53 909) pour la performance. La distance moyenne est calculée sur le sous-ensemble affiché.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5152" y="804672"/>
            <a:ext cx="4242816" cy="4041648"/>
          </a:xfrm>
          <a:prstGeom prst="rect">
            <a:avLst/>
          </a:prstGeom>
          <a:solidFill>
            <a:srgbClr val="1A2240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804672"/>
            <a:ext cx="424281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89611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✦  Alternatives envisageables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73168" y="1389888"/>
            <a:ext cx="3977640" cy="54864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4813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Test de permutation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181051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Déplacer aléatoirement les coordonnées W2, recalculer le score → score 'au hasard'. Si score réel &gt;&gt; score aléatoire : colocalisation réelle confirmée.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2468880"/>
            <a:ext cx="3977640" cy="54864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5603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Cercles de proximité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288950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Tracer des cercles autour de chaque cluster W1 et compter les loc. W2 à l'intérieur. Déjà prévu si la maître de stage le demande.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3168" y="3547872"/>
            <a:ext cx="3977640" cy="54864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6393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▸  Coefficient de Manders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396849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Méthode standard en biologie. Mesure le chevauchement d'intensité entre canaux. Compatible avec les données STORM.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" y="1024128"/>
            <a:ext cx="4160520" cy="1719072"/>
          </a:xfrm>
          <a:prstGeom prst="rect">
            <a:avLst/>
          </a:prstGeom>
          <a:solidFill>
            <a:srgbClr val="1A2240"/>
          </a:solidFill>
          <a:ln w="12700">
            <a:solidFill>
              <a:srgbClr val="0891B2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24128"/>
            <a:ext cx="41605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88720"/>
            <a:ext cx="457200" cy="457200"/>
          </a:xfrm>
          <a:prstGeom prst="ellipse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2070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Données réelles analysées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682496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5 780 loc. W1 (Calnexine) et 53 909 loc. W2 (CFTR) issues d'acquisitions STORM — deux fichiers CSV demixés.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4160520" cy="1719072"/>
          </a:xfrm>
          <a:prstGeom prst="rect">
            <a:avLst/>
          </a:prstGeom>
          <a:solidFill>
            <a:srgbClr val="1A2240"/>
          </a:solidFill>
          <a:ln w="12700">
            <a:solidFill>
              <a:srgbClr val="00E676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24128"/>
            <a:ext cx="416052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82896" y="1188720"/>
            <a:ext cx="457200" cy="457200"/>
          </a:xfrm>
          <a:prstGeom prst="ellipse">
            <a:avLst/>
          </a:prstGeom>
          <a:solidFill>
            <a:srgbClr val="00E676">
              <a:alpha val="7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31536" y="12070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Réseau de Delaunay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82896" y="1682496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Maillage géométrique intra-canal reflétant la structure en réseau du réticulum endoplasmique.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926080"/>
            <a:ext cx="4160520" cy="1719072"/>
          </a:xfrm>
          <a:prstGeom prst="rect">
            <a:avLst/>
          </a:prstGeom>
          <a:solidFill>
            <a:srgbClr val="1A2240"/>
          </a:solidFill>
          <a:ln w="12700">
            <a:solidFill>
              <a:srgbClr val="FFD600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926080"/>
            <a:ext cx="416052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090672"/>
            <a:ext cx="457200" cy="457200"/>
          </a:xfrm>
          <a:prstGeom prst="ellipse">
            <a:avLst/>
          </a:prstGeom>
          <a:solidFill>
            <a:srgbClr val="FFD600">
              <a:alpha val="75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31089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Score 96 % — Distance 39,2 nm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58444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Colocalisation significative détectée. Limite conditionnelle affichée automatiquement selon le ratio de densité.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160520" cy="1719072"/>
          </a:xfrm>
          <a:prstGeom prst="rect">
            <a:avLst/>
          </a:prstGeom>
          <a:solidFill>
            <a:srgbClr val="1A2240"/>
          </a:solidFill>
          <a:ln w="12700">
            <a:solidFill>
              <a:srgbClr val="06B6D4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41605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82896" y="3090672"/>
            <a:ext cx="457200" cy="457200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31536" y="31089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3 fichiers livrés automatiquement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82896" y="358444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TIF référence + TIF Delaunay (ImageJ) + HTML graphe interactif — sauvegardés dans le dossier des CSV.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773168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Merci de votre attention — Questions 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2026-06-03T21:23:20Z</dcterms:created>
  <dcterms:modified xsi:type="dcterms:W3CDTF">2026-06-03T21:23:20Z</dcterms:modified>
</cp:coreProperties>
</file>